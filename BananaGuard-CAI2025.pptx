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68" r:id="rId4"/>
    <p:sldId id="269" r:id="rId5"/>
    <p:sldId id="270" r:id="rId6"/>
    <p:sldId id="258" r:id="rId7"/>
    <p:sldId id="262" r:id="rId8"/>
    <p:sldId id="263" r:id="rId9"/>
    <p:sldId id="271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2DE1B-EE04-BF4C-A4A8-7B116496B4C8}" v="6" dt="2025-07-23T03:32:25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/>
    <p:restoredTop sz="78571"/>
  </p:normalViewPr>
  <p:slideViewPr>
    <p:cSldViewPr snapToGrid="0">
      <p:cViewPr varScale="1">
        <p:scale>
          <a:sx n="95" d="100"/>
          <a:sy n="95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3FE6E-7D1E-B249-ABA1-CCFCA4E55C0F}" type="datetimeFigureOut">
              <a:rPr lang="en-SA" smtClean="0"/>
              <a:t>11/25/25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B21FB-4382-9846-907C-140BAE5C662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15524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dirty="0"/>
              <a:t>"Let me begin by highlighting a stark reality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—firearms have become the leading cause of death among children and adolescents in the U.S.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This is not just a statistic; it’s a public safety crisis.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Also, In dynamic, crowded environments like schools or public events, firearm detection becomes incredibly challenging.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Factors like complex backgrounds, variable lighting, and different firearm appearances make traditional surveillance systems unreliable.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Also, human operators—while essential—are prone to fatigue, biases, and limited attention spans.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Our goal is to address these limitations with a system that not only detects threats more accurately but does so in real-time.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This is where '</a:t>
            </a:r>
            <a:r>
              <a:rPr lang="en-US" dirty="0" err="1"/>
              <a:t>BananaGuard</a:t>
            </a:r>
            <a:r>
              <a:rPr lang="en-US" dirty="0"/>
              <a:t>’ comes as a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1054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A4082-F282-6386-44C6-877C278B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5E4E0-CC65-69C6-F401-BD8012BC2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CF104-9FF0-3BAF-082F-AE6123B00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dirty="0"/>
              <a:t>Existing research has explored the use of deep learning for firearm detection.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But They either evaluate single models in isolation----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ignore real-world variability by relying on synthetic datasets----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Or lack comprehensive benchmarking across diverse conditions.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This creates critical gaps in reliability and applicability.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3D738-855D-C4CF-E0F7-522900F50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68690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6216-007B-078D-5F3E-20308BDB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84AEF-E177-81B8-94AC-A30B95FB4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EAA56-5EB9-333F-72F1-3AF6AC15E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dirty="0"/>
              <a:t>The models that we considered for this work are: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YOLO: which is known for speed and computational efficiency, making it ideal for real-time systems.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But under difficult conditions like occlusion or when guns have unconventional shapes, YOLO’s performance drops.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Then we have transformer-based models like DETR.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These offer more contextual reasoning and accuracy, especially in complex scenes-----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but they’re resource-intensive and impractical for real-time or edge-device use. </a:t>
            </a:r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endParaRPr lang="en-US" dirty="0"/>
          </a:p>
          <a:p>
            <a:pPr marL="0" algn="l" defTabSz="914400" rtl="0" eaLnBrk="1" latinLnBrk="0" hangingPunct="1"/>
            <a:r>
              <a:rPr lang="en-US" dirty="0"/>
              <a:t>Each model comes with its own trade-offs, which is central to our evaluation.</a:t>
            </a:r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A968A-5204-2549-1A6E-0D793AD0F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04720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69B5-849F-385D-8B4B-0346E3B2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5E7C4-A547-70A7-3BF8-9DC1BE116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09253-4A3D-3EB7-2D06-D1F3D8631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Our dataset included over 51,000 firearm-focused images—44,753 from a publicly available source, supplemented with additional web-scraped data.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However, we observed that while </a:t>
            </a:r>
            <a:r>
              <a:rPr lang="en-US" b="1" dirty="0"/>
              <a:t>mAP50</a:t>
            </a:r>
            <a:r>
              <a:rPr lang="en-US" dirty="0"/>
              <a:t>—which measures mean Average Precision at a 50% Intersection over Union threshold—remained high, the </a:t>
            </a:r>
            <a:r>
              <a:rPr lang="en-US" b="1" dirty="0"/>
              <a:t>mAP50-95</a:t>
            </a:r>
            <a:r>
              <a:rPr lang="en-US" dirty="0"/>
              <a:t>, which evaluates performance across a range of stricter </a:t>
            </a:r>
            <a:r>
              <a:rPr lang="en-US" dirty="0" err="1"/>
              <a:t>IoU</a:t>
            </a:r>
            <a:r>
              <a:rPr lang="en-US" dirty="0"/>
              <a:t> thresholds, began to decline.  </a:t>
            </a:r>
            <a:r>
              <a:rPr lang="en-US" strike="sngStrike" dirty="0"/>
              <a:t>(Which mean we have overfitting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indicated that the models were struggling to generalize.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After several rounds of experimentation, we found that training on a curated subset of </a:t>
            </a:r>
            <a:r>
              <a:rPr lang="en-US" b="1" dirty="0"/>
              <a:t>8,000 images</a:t>
            </a:r>
            <a:r>
              <a:rPr lang="en-US" dirty="0"/>
              <a:t> significantly mitigated overfitting and enhanced generalization.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Possible reasons of this issue might be having redundant samples or noisy labels in the larger dataset.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We trained three models: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YOLOv10</a:t>
            </a:r>
            <a:r>
              <a:rPr lang="en-US" dirty="0"/>
              <a:t>, a lightweight model optimized for real-time performance in resource-constrained environments;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YOLOv11</a:t>
            </a:r>
            <a:r>
              <a:rPr lang="en-US" dirty="0"/>
              <a:t>, which improves upon YOLOv10 by enhancing detection of small or partially occluded objects;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RT-DETR</a:t>
            </a:r>
            <a:r>
              <a:rPr lang="en-US" dirty="0"/>
              <a:t>, a transformer-based model that offers strong contextual reasoning capabilities but requires greater computational resources.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We conducted a rigorous benchmarking process,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We were trying to ensure consistent training pipelines and hyperparameters across all models to maintain fairness and comparability.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6987E-7EB3-97A8-8133-7FBDA2FE2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5355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training was powered by NVIDIA GPUs and CUDA acceleration. </a:t>
            </a:r>
          </a:p>
          <a:p>
            <a:endParaRPr lang="en-US" dirty="0"/>
          </a:p>
          <a:p>
            <a:r>
              <a:rPr lang="en-US" dirty="0"/>
              <a:t>We ran training for 150 epochs with a batch size of 16. </a:t>
            </a:r>
          </a:p>
          <a:p>
            <a:endParaRPr lang="en-US" dirty="0"/>
          </a:p>
          <a:p>
            <a:r>
              <a:rPr lang="en-US" dirty="0"/>
              <a:t>Augmentation techniques included random scaling, horizontal flipping, and erasing. </a:t>
            </a:r>
          </a:p>
          <a:p>
            <a:endParaRPr lang="en-US" dirty="0"/>
          </a:p>
          <a:p>
            <a:r>
              <a:rPr lang="en-US" dirty="0"/>
              <a:t>We also used a learning rate schedule with warmup to stabilize early training. 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6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9696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Left Graph: F1 Score vs Epoch</a:t>
            </a:r>
          </a:p>
          <a:p>
            <a:r>
              <a:rPr lang="en-US" b="1" dirty="0"/>
              <a:t>F1 Score</a:t>
            </a:r>
            <a:r>
              <a:rPr lang="en-US" dirty="0"/>
              <a:t> measures model accuracy by combining precision and recall (higher is better).</a:t>
            </a:r>
          </a:p>
          <a:p>
            <a:r>
              <a:rPr lang="en-US" b="1" dirty="0"/>
              <a:t>Red Line (DETR)</a:t>
            </a:r>
            <a:r>
              <a:rPr lang="en-US" dirty="0"/>
              <a:t> starts strong and ends with the best performance (close to 1.0).</a:t>
            </a:r>
          </a:p>
          <a:p>
            <a:r>
              <a:rPr lang="en-US" b="1" dirty="0"/>
              <a:t>Blue Line (YOLOv11)</a:t>
            </a:r>
            <a:r>
              <a:rPr lang="en-US" dirty="0"/>
              <a:t> and </a:t>
            </a:r>
            <a:r>
              <a:rPr lang="en-US" b="1" dirty="0"/>
              <a:t>Green Line (YOLOv10)</a:t>
            </a:r>
            <a:r>
              <a:rPr lang="en-US" dirty="0"/>
              <a:t> improve steadily but stay slightly below DETR.</a:t>
            </a:r>
          </a:p>
          <a:p>
            <a:r>
              <a:rPr lang="en-US" dirty="0"/>
              <a:t>Around epoch 40, DETR briefly dips—possibly due to overfitting or a learning rate issue—but then recovers.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Takeaway:</a:t>
            </a:r>
            <a:r>
              <a:rPr lang="en-US" dirty="0"/>
              <a:t> DETR ends with the best F1 score, meaning it’s most accurate overall.</a:t>
            </a:r>
          </a:p>
          <a:p>
            <a:r>
              <a:rPr lang="en-US" b="1" dirty="0"/>
              <a:t>Right Graph: Validation Loss vs Epoch</a:t>
            </a:r>
          </a:p>
          <a:p>
            <a:r>
              <a:rPr lang="en-US" b="1" dirty="0"/>
              <a:t>Validation Loss</a:t>
            </a:r>
            <a:r>
              <a:rPr lang="en-US" dirty="0"/>
              <a:t> shows how well the model performs on unseen data (lower is better).</a:t>
            </a:r>
          </a:p>
          <a:p>
            <a:r>
              <a:rPr lang="en-US" dirty="0"/>
              <a:t>DETR (red) consistently has the lowest validation loss, indicating </a:t>
            </a:r>
            <a:r>
              <a:rPr lang="en-US" b="1" dirty="0"/>
              <a:t>strong generalization</a:t>
            </a:r>
            <a:r>
              <a:rPr lang="en-US" dirty="0"/>
              <a:t>.</a:t>
            </a:r>
          </a:p>
          <a:p>
            <a:r>
              <a:rPr lang="en-US" dirty="0"/>
              <a:t>YOLOv11 (blue) performs better than YOLOv10 (green) but worse than DETR.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Takeaway:</a:t>
            </a:r>
            <a:r>
              <a:rPr lang="en-US" dirty="0"/>
              <a:t> DETR generalizes best, YOLOv11 is better than YOLOv10, but both trail DETR.</a:t>
            </a:r>
          </a:p>
          <a:p>
            <a:r>
              <a:rPr lang="en-US" b="1" dirty="0"/>
              <a:t>Overall Conclusion:</a:t>
            </a:r>
          </a:p>
          <a:p>
            <a:r>
              <a:rPr lang="en-US" b="1" dirty="0"/>
              <a:t>DETR</a:t>
            </a:r>
            <a:r>
              <a:rPr lang="en-US" dirty="0"/>
              <a:t> outperforms both YOLO models in </a:t>
            </a:r>
            <a:r>
              <a:rPr lang="en-US" b="1" dirty="0"/>
              <a:t>accuracy (F1)</a:t>
            </a:r>
            <a:r>
              <a:rPr lang="en-US" dirty="0"/>
              <a:t> and </a:t>
            </a:r>
            <a:r>
              <a:rPr lang="en-US" b="1" dirty="0"/>
              <a:t>generalization (validation loss)</a:t>
            </a:r>
            <a:r>
              <a:rPr lang="en-US" dirty="0"/>
              <a:t>.</a:t>
            </a:r>
          </a:p>
          <a:p>
            <a:r>
              <a:rPr lang="en-US" b="1" dirty="0"/>
              <a:t>YOLOv11</a:t>
            </a:r>
            <a:r>
              <a:rPr lang="en-US" dirty="0"/>
              <a:t> is a clear improvement over YOLOv10 but still not as strong as DETR.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38766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This Figure compares firearm detection performance across the three models in various real-world scenarios.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Each model’s predictions are shown with bounding boxes and confidence scores,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YOLOv11</a:t>
            </a:r>
            <a:r>
              <a:rPr lang="en-US" dirty="0"/>
              <a:t> stands out for its high accuracy and robustness, even in scenes with occlusion and dynamic lighting—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YOLOv10</a:t>
            </a:r>
            <a:r>
              <a:rPr lang="en-US" dirty="0"/>
              <a:t> performs well in simpler environments, however it may miss partially obscured firearms.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RT-DETR</a:t>
            </a:r>
            <a:r>
              <a:rPr lang="en-US" dirty="0"/>
              <a:t> delivers the best accuracy in cluttered or complex scenes,</a:t>
            </a: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711410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This figure Figure compares how the three models perform in crowded, visually complex scenes—</a:t>
            </a:r>
          </a:p>
          <a:p>
            <a:pPr>
              <a:buNone/>
            </a:pPr>
            <a:r>
              <a:rPr lang="en-US" dirty="0"/>
              <a:t>conditions that make firearm detection difficult due to overlapping objects, varied lighting, and background distractions.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YOLOv10 manages to detect a single firearm with moderate confidence but struggles to identify multiple weapons.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YOLOv11 detected more firearms, but with lower confidence scores, </a:t>
            </a:r>
          </a:p>
          <a:p>
            <a:pPr>
              <a:buNone/>
            </a:pPr>
            <a:r>
              <a:rPr lang="en-US" dirty="0"/>
              <a:t>Which means it’s better at spotting objects but less certain under visual clutter.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RT-DETR performs the best in detecting multiple firearms with higher confidence,</a:t>
            </a:r>
          </a:p>
          <a:p>
            <a:pPr>
              <a:buNone/>
            </a:pPr>
            <a:r>
              <a:rPr lang="en-US" dirty="0"/>
              <a:t>which excels at understanding the broader visual context.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 a second example: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YOLOv10 detects the firearm with decent accuracy, </a:t>
            </a:r>
          </a:p>
          <a:p>
            <a:pPr>
              <a:buNone/>
            </a:pPr>
            <a:r>
              <a:rPr lang="en-US" dirty="0"/>
              <a:t>YOLOv11 identifies it with less confidence,</a:t>
            </a:r>
          </a:p>
          <a:p>
            <a:pPr>
              <a:buNone/>
            </a:pPr>
            <a:r>
              <a:rPr lang="en-US" dirty="0"/>
              <a:t>RT-DETR again delivers the most confident result.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95602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To wrap up, the choice of model should be guided by the specific application.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YOLOv10</a:t>
            </a:r>
            <a:r>
              <a:rPr lang="en-US" dirty="0"/>
              <a:t> is great for systems with limited computational power, though it might need more tuning to avoid overfitting.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YOLOv11</a:t>
            </a:r>
            <a:r>
              <a:rPr lang="en-US" dirty="0"/>
              <a:t> strikes a solid balance between speed and accuracy, it’s better at spotting objects but less certain under visual clutter, making it ideal for real-time detection in critical environments.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RT-DETR</a:t>
            </a:r>
            <a:r>
              <a:rPr lang="en-US" dirty="0"/>
              <a:t>, while powerful, is better suited for settings where computational resources are not a constraint.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</a:t>
            </a:r>
            <a:r>
              <a:rPr lang="en-US" dirty="0" err="1"/>
              <a:t>BananaGuard</a:t>
            </a:r>
            <a:r>
              <a:rPr lang="en-US" dirty="0"/>
              <a:t> demonstrates that with the right combination of model architecture, dataset quality, and training strategy, we can significantly advance firearm detection systems and improve public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10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53635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B21FB-4382-9846-907C-140BAE5C662B}" type="slidenum">
              <a:rPr lang="en-SA" smtClean="0"/>
              <a:t>11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30811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7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5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7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1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5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0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6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1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2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769AE6D-77EF-B845-A1ED-D0511ADF3C58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6599227-F0D2-624B-96A5-29560429A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7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C806-9A6B-8C96-4829-0906D30DD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340" y="1515072"/>
            <a:ext cx="9635319" cy="200870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BananaGuard: A Comparative Analysis of AI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Models for Firearm Detection in Crowded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E26E1-F64A-4547-5EBD-CE5249ACA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285" y="3865659"/>
            <a:ext cx="8675427" cy="259404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Rumeysa Kara, Betul Tok, Rawan AlMakinah, and M. Abdullah Canbaz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AI in Complex Systems Lab, University at Albany, SUNY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Department of Information Sciences and Technology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College of Emergency Preparedness, Homeland Security, and Cybersecurity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University at Albany, SUNY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C0DC46C-2EEE-3DDE-D150-BF47B068A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Human/AI Alignment workshop | DARPA">
            <a:extLst>
              <a:ext uri="{FF2B5EF4-FFF2-40B4-BE49-F238E27FC236}">
                <a16:creationId xmlns:a16="http://schemas.microsoft.com/office/drawing/2014/main" id="{316B12AC-F3E9-6FFE-06F6-7FC4A4750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754A7D42-2907-F6F4-6EF4-67B6CE24F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91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7115-C620-0BD6-9D0F-1D9B85CA9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93" y="1255265"/>
            <a:ext cx="7357927" cy="88057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5053F-8971-836E-607B-000A5C0D4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17" y="2135842"/>
            <a:ext cx="11020290" cy="4309025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Firearms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become the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cause of death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American children and adolescents.</a:t>
            </a:r>
            <a:endParaRPr lang="en-US" sz="1800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Firearm </a:t>
            </a:r>
            <a:r>
              <a:rPr lang="en-US" sz="18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in crowded and dynamic environments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remains a critical </a:t>
            </a:r>
            <a:r>
              <a:rPr lang="en-US" sz="1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public safety due to:</a:t>
            </a:r>
          </a:p>
          <a:p>
            <a:pPr lvl="1"/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backgrounds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rowded environment</a:t>
            </a:r>
          </a:p>
          <a:p>
            <a:pPr lvl="1"/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 lighting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ynamic movement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shape, size and configurations</a:t>
            </a:r>
            <a:endParaRPr lang="en-US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stakes of false positives and negatives.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surveillance systems are limited in detecting threats.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of these systems relies </a:t>
            </a:r>
            <a:r>
              <a:rPr lang="en-US" sz="1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human operators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prone to cognitive fatigue, perceptual biases, and limited attention spans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often fail to balance </a:t>
            </a:r>
            <a:r>
              <a:rPr lang="en-US" sz="1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efficiency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applicability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resource constrained settings.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“</a:t>
            </a:r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BananaGuard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utilizes the power of object detection driven by advancements in machine learning (ML) and deep learning architectures to provide a real-time analytical system that can outperform traditional surveillance methods.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A3EE7DD7-0A0B-F853-CE33-E61441321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uman/AI Alignment workshop | DARPA">
            <a:extLst>
              <a:ext uri="{FF2B5EF4-FFF2-40B4-BE49-F238E27FC236}">
                <a16:creationId xmlns:a16="http://schemas.microsoft.com/office/drawing/2014/main" id="{CE45B7BE-1A3E-6214-FCB1-7FF7CA515D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469037E8-6825-4D03-AB40-0597143CE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02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5C9C-05FC-1264-C6C2-CCE50F0C8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DB8F-78B1-809E-A12A-A91D9506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93" y="1255265"/>
            <a:ext cx="7357927" cy="88057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A1F6-3652-8010-C864-81B1E0FC2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17" y="2135842"/>
            <a:ext cx="11020290" cy="399200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have explored the application of state-of-the-art deep learning models for firearm detection, however they often: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model evaluations </a:t>
            </a:r>
          </a:p>
          <a:p>
            <a:pPr lvl="1"/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comprehensive benchmarking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diverse scenarios</a:t>
            </a:r>
          </a:p>
          <a:p>
            <a:pPr lvl="1"/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Rely on synthetic or limited datasets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fail to capture the variability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real-world conditions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Critical gaps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in current research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60408867-121A-9F3F-924B-F1F724A01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uman/AI Alignment workshop | DARPA">
            <a:extLst>
              <a:ext uri="{FF2B5EF4-FFF2-40B4-BE49-F238E27FC236}">
                <a16:creationId xmlns:a16="http://schemas.microsoft.com/office/drawing/2014/main" id="{47B0467F-3139-5F90-B16F-5168F0B4F4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75BA01B2-2543-5B0D-9DB2-DECC6AEA8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14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E7B5-07CA-9512-1063-53F1B9D7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7564-0EA3-F31C-E9F9-27C6EA9D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93" y="1255265"/>
            <a:ext cx="7357927" cy="88057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of the art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22BB4-EB37-AFA1-1789-AB5A42B2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17" y="2135842"/>
            <a:ext cx="11020290" cy="3992003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Only Look Once (YOLO)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Known for</a:t>
            </a:r>
          </a:p>
          <a:p>
            <a:pPr lvl="1"/>
            <a:r>
              <a:rPr lang="en-US" sz="1800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and efficiency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BUT! 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often deteriorates under challenging conditions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sz="1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occlusion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firearms with </a:t>
            </a:r>
            <a:r>
              <a:rPr lang="en-US" sz="1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unconventional appearances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issue of inaccurate identification of </a:t>
            </a:r>
            <a:r>
              <a:rPr lang="en-US" sz="1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overlapping objects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sz="1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(DETR):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advancements in </a:t>
            </a:r>
            <a:r>
              <a:rPr lang="en-US" sz="1800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 reasoning and precision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eliminating the need for non-maximum suppression.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YET!! their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demands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render them impractical for real-time or edge-based surveillance applications.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6D63783A-FCFB-615C-9C24-E4DB5D4F5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uman/AI Alignment workshop | DARPA">
            <a:extLst>
              <a:ext uri="{FF2B5EF4-FFF2-40B4-BE49-F238E27FC236}">
                <a16:creationId xmlns:a16="http://schemas.microsoft.com/office/drawing/2014/main" id="{A133E74D-C812-6F64-C06F-A133621F10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8AC337F2-5543-AC41-168E-A698DDD34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2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7A896-F37A-E604-C13B-96AD9462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5BD1-655C-9EEC-EF42-510EA37EE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93" y="1255265"/>
            <a:ext cx="7357927" cy="88057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A03A-A19C-F87B-F3E5-EFDDA4108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16" y="2135843"/>
            <a:ext cx="11254683" cy="328705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annotated dataset (</a:t>
            </a:r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44,753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annotated images) + </a:t>
            </a:r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web-scraped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51,000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focused on the firearm.</a:t>
            </a:r>
          </a:p>
          <a:p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YOLOv10: 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detection model, prioritize computational efficiency and real-time inference. it achieves 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balance between detection accuracy and speed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ideal choice for edge applications).</a:t>
            </a:r>
          </a:p>
          <a:p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YOLOv11: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upon the architectural foundations of YOLOv10, 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detection accuracy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for small and partially 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occluded objects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sz="1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sz="1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(RT-DETR)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architecture with 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reasoning capabilities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rigorous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with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training 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pelines and hyperparameters across all models to ensure comparability.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their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challenging conditions, such as occlusion and unconventional firearm appearances, while analyzing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accuracy, inference speed, and resource requirements.</a:t>
            </a:r>
          </a:p>
          <a:p>
            <a:pPr marL="45720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CC36396D-7B57-CA34-4EB2-4E1F7C03A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uman/AI Alignment workshop | DARPA">
            <a:extLst>
              <a:ext uri="{FF2B5EF4-FFF2-40B4-BE49-F238E27FC236}">
                <a16:creationId xmlns:a16="http://schemas.microsoft.com/office/drawing/2014/main" id="{381B3B93-5546-DD59-5F5F-D70B5BD32E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8ABD607A-DB68-9B09-5423-116A38FEB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F2EFD03-DC9C-AA9D-319B-4D44F7A46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33732"/>
              </p:ext>
            </p:extLst>
          </p:nvPr>
        </p:nvGraphicFramePr>
        <p:xfrm>
          <a:off x="3960731" y="5716365"/>
          <a:ext cx="3910989" cy="822960"/>
        </p:xfrm>
        <a:graphic>
          <a:graphicData uri="http://schemas.openxmlformats.org/drawingml/2006/table">
            <a:tbl>
              <a:tblPr/>
              <a:tblGrid>
                <a:gridCol w="1303663">
                  <a:extLst>
                    <a:ext uri="{9D8B030D-6E8A-4147-A177-3AD203B41FA5}">
                      <a16:colId xmlns:a16="http://schemas.microsoft.com/office/drawing/2014/main" val="2583713650"/>
                    </a:ext>
                  </a:extLst>
                </a:gridCol>
                <a:gridCol w="1303663">
                  <a:extLst>
                    <a:ext uri="{9D8B030D-6E8A-4147-A177-3AD203B41FA5}">
                      <a16:colId xmlns:a16="http://schemas.microsoft.com/office/drawing/2014/main" val="1835973421"/>
                    </a:ext>
                  </a:extLst>
                </a:gridCol>
                <a:gridCol w="1303663">
                  <a:extLst>
                    <a:ext uri="{9D8B030D-6E8A-4147-A177-3AD203B41FA5}">
                      <a16:colId xmlns:a16="http://schemas.microsoft.com/office/drawing/2014/main" val="4209750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mAP50(B)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mAP50-95(B)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639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SA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0.77878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8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SA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0.99263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0.76836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5044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8359181-B82A-98B4-6AF8-AE5B2E9EB047}"/>
              </a:ext>
            </a:extLst>
          </p:cNvPr>
          <p:cNvSpPr txBox="1"/>
          <p:nvPr/>
        </p:nvSpPr>
        <p:spPr>
          <a:xfrm>
            <a:off x="3853150" y="5470143"/>
            <a:ext cx="39109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YOLOV11 PERFORMANCE COMPARISON (8K VS. 51K IMAGES)</a:t>
            </a:r>
            <a:endParaRPr lang="en-US" sz="1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716248C2-CDD4-7F0B-5FB2-DDEFA6484600}"/>
              </a:ext>
            </a:extLst>
          </p:cNvPr>
          <p:cNvSpPr/>
          <p:nvPr/>
        </p:nvSpPr>
        <p:spPr>
          <a:xfrm flipH="1">
            <a:off x="7323464" y="6263904"/>
            <a:ext cx="881349" cy="27542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A0AB5-976C-0086-973B-5B2A1880F782}"/>
              </a:ext>
            </a:extLst>
          </p:cNvPr>
          <p:cNvSpPr txBox="1"/>
          <p:nvPr/>
        </p:nvSpPr>
        <p:spPr>
          <a:xfrm>
            <a:off x="8204813" y="6216948"/>
            <a:ext cx="1297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267689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6BB0-FDA8-B677-836C-DC91CA80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16" y="1355020"/>
            <a:ext cx="9623508" cy="69411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 and Optimization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DDC53-A83A-9155-7C58-C31917888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18" y="2188457"/>
            <a:ext cx="10909793" cy="4449515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GPU and CUDA-enabled acceleration.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 epochs with a batch size = 16.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scaling with a scale factor = 0.5.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flipping with 50% probability.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auto random augmentation.</a:t>
            </a:r>
          </a:p>
          <a:p>
            <a:pPr lvl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Erasing augmentation = 0.4.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learning rate=  0.01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 = 0.937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decay = 0.0005.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epoch warmup period with a warmup momentum of 0.8 and a warmup bias learning rate of 0.1.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used a box loss weight of 7.5, a classification loss weight of 0.5, and a distribution focal loss weight of 1.5.</a:t>
            </a:r>
          </a:p>
          <a:p>
            <a:pPr marL="514350" indent="-514350">
              <a:buFont typeface="+mj-lt"/>
              <a:buAutoNum type="alphaU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5D263429-8343-8A01-2432-80FCDD3A5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Human/AI Alignment workshop | DARPA">
            <a:extLst>
              <a:ext uri="{FF2B5EF4-FFF2-40B4-BE49-F238E27FC236}">
                <a16:creationId xmlns:a16="http://schemas.microsoft.com/office/drawing/2014/main" id="{1C275B64-3698-8B94-9BBD-3D1DBFF78A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35FF211E-0A86-1979-05D8-31ADBAE3C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698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>
            <a:extLst>
              <a:ext uri="{FF2B5EF4-FFF2-40B4-BE49-F238E27FC236}">
                <a16:creationId xmlns:a16="http://schemas.microsoft.com/office/drawing/2014/main" id="{605D3075-E786-E9D1-B586-E0600C52B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 descr="Human/AI Alignment workshop | DARPA">
            <a:extLst>
              <a:ext uri="{FF2B5EF4-FFF2-40B4-BE49-F238E27FC236}">
                <a16:creationId xmlns:a16="http://schemas.microsoft.com/office/drawing/2014/main" id="{A3C7C6CA-675E-F7EF-EDD6-6E21C22F1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911DAD8D-515D-E641-7681-F2B91FCDE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896D891-D5D4-5A54-FEC4-BD63D50FBC87}"/>
              </a:ext>
            </a:extLst>
          </p:cNvPr>
          <p:cNvSpPr txBox="1">
            <a:spLocks/>
          </p:cNvSpPr>
          <p:nvPr/>
        </p:nvSpPr>
        <p:spPr>
          <a:xfrm>
            <a:off x="660781" y="1258208"/>
            <a:ext cx="7789156" cy="850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 </a:t>
            </a:r>
          </a:p>
        </p:txBody>
      </p:sp>
      <p:pic>
        <p:nvPicPr>
          <p:cNvPr id="24" name="Picture 23" descr="A graph of loss and validation&#10;&#10;AI-generated content may be incorrect.">
            <a:extLst>
              <a:ext uri="{FF2B5EF4-FFF2-40B4-BE49-F238E27FC236}">
                <a16:creationId xmlns:a16="http://schemas.microsoft.com/office/drawing/2014/main" id="{CB8B7F67-BAD6-831A-CB2B-030DF2B245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875" y="2109098"/>
            <a:ext cx="10011978" cy="2859142"/>
          </a:xfrm>
          <a:prstGeom prst="rect">
            <a:avLst/>
          </a:prstGeom>
        </p:spPr>
      </p:pic>
      <p:pic>
        <p:nvPicPr>
          <p:cNvPr id="26" name="Picture 2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3B27394-6033-02ED-C2E3-1E4A6306C4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3709" y="5384348"/>
            <a:ext cx="5892932" cy="134461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B93327F-8241-F53C-763A-D1CCF80FCA1A}"/>
              </a:ext>
            </a:extLst>
          </p:cNvPr>
          <p:cNvSpPr txBox="1"/>
          <p:nvPr/>
        </p:nvSpPr>
        <p:spPr>
          <a:xfrm>
            <a:off x="3510866" y="50765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ON VALIDATION SET</a:t>
            </a:r>
          </a:p>
        </p:txBody>
      </p:sp>
    </p:spTree>
    <p:extLst>
      <p:ext uri="{BB962C8B-B14F-4D97-AF65-F5344CB8AC3E}">
        <p14:creationId xmlns:p14="http://schemas.microsoft.com/office/powerpoint/2010/main" val="290250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ollage of images of people holding guns&#10;&#10;AI-generated content may be incorrect.">
            <a:extLst>
              <a:ext uri="{FF2B5EF4-FFF2-40B4-BE49-F238E27FC236}">
                <a16:creationId xmlns:a16="http://schemas.microsoft.com/office/drawing/2014/main" id="{4EDA1BD5-A94F-8C9C-B578-321EEA947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63894" y="1428855"/>
            <a:ext cx="8464212" cy="4706735"/>
          </a:xfr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6ED807F8-7850-AEB5-8313-DAB0D921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uman/AI Alignment workshop | DARPA">
            <a:extLst>
              <a:ext uri="{FF2B5EF4-FFF2-40B4-BE49-F238E27FC236}">
                <a16:creationId xmlns:a16="http://schemas.microsoft.com/office/drawing/2014/main" id="{F01EEE9E-2C91-569E-F4BD-0E63CC8B0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19B6723B-2ADD-7FEC-D35A-5B717285E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F58C3B-1A39-B20E-8902-983D1C6B5133}"/>
              </a:ext>
            </a:extLst>
          </p:cNvPr>
          <p:cNvSpPr txBox="1"/>
          <p:nvPr/>
        </p:nvSpPr>
        <p:spPr>
          <a:xfrm>
            <a:off x="3973552" y="61667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sample of model’s gun detection predictions</a:t>
            </a:r>
          </a:p>
        </p:txBody>
      </p:sp>
    </p:spTree>
    <p:extLst>
      <p:ext uri="{BB962C8B-B14F-4D97-AF65-F5344CB8AC3E}">
        <p14:creationId xmlns:p14="http://schemas.microsoft.com/office/powerpoint/2010/main" val="159326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71E49-8FE6-A343-DA44-36B8295D4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2">
            <a:extLst>
              <a:ext uri="{FF2B5EF4-FFF2-40B4-BE49-F238E27FC236}">
                <a16:creationId xmlns:a16="http://schemas.microsoft.com/office/drawing/2014/main" id="{4FA69CA7-D771-5538-370B-7ADEF99FB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uman/AI Alignment workshop | DARPA">
            <a:extLst>
              <a:ext uri="{FF2B5EF4-FFF2-40B4-BE49-F238E27FC236}">
                <a16:creationId xmlns:a16="http://schemas.microsoft.com/office/drawing/2014/main" id="{669334D0-EC09-C7F4-0395-271F1C1EC6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4AC17A25-D257-A7B8-CC56-EE35E6C76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ollage of several people&#10;&#10;AI-generated content may be incorrect.">
            <a:extLst>
              <a:ext uri="{FF2B5EF4-FFF2-40B4-BE49-F238E27FC236}">
                <a16:creationId xmlns:a16="http://schemas.microsoft.com/office/drawing/2014/main" id="{6D109B95-7C93-C88E-956A-8F12448E6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6920" y="1818225"/>
            <a:ext cx="8418146" cy="41511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AA677D-36CD-E5FD-A29B-0478891D2EF2}"/>
              </a:ext>
            </a:extLst>
          </p:cNvPr>
          <p:cNvSpPr txBox="1"/>
          <p:nvPr/>
        </p:nvSpPr>
        <p:spPr>
          <a:xfrm>
            <a:off x="2890480" y="5969395"/>
            <a:ext cx="6729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sample of model’s gun detection predictions in crowded images</a:t>
            </a:r>
          </a:p>
        </p:txBody>
      </p:sp>
    </p:spTree>
    <p:extLst>
      <p:ext uri="{BB962C8B-B14F-4D97-AF65-F5344CB8AC3E}">
        <p14:creationId xmlns:p14="http://schemas.microsoft.com/office/powerpoint/2010/main" val="60395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30895-25D4-D09C-CB6F-AF991B65D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B2B7-191B-5708-3071-8D8ECB4E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93" y="1255265"/>
            <a:ext cx="7357927" cy="88057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CB26A-AE27-49EC-6263-43B5CF71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17" y="2135842"/>
            <a:ext cx="11020290" cy="399200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findings underscore the importance of selecting models based on application requirements, whether they prioritize real-time deployment, resource constraints, or high localization precision.</a:t>
            </a:r>
            <a:endParaRPr lang="en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YOLOv10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reliable option for environments with limited computational resources, though it may require additional regularization or augmentation to address its susceptibility to overfitting.</a:t>
            </a:r>
          </a:p>
          <a:p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YOLOv11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balances real-time performance and accuracy positioning it as the optimal choice for real-time applications where both precision and recall are critical.</a:t>
            </a:r>
          </a:p>
          <a:p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RT-DETR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excels in nuanced detection tasks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requiring greater computational resources. </a:t>
            </a: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7FA9B597-B02A-7F53-7BF2-006E27BC6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Human/AI Alignment workshop | DARPA">
            <a:extLst>
              <a:ext uri="{FF2B5EF4-FFF2-40B4-BE49-F238E27FC236}">
                <a16:creationId xmlns:a16="http://schemas.microsoft.com/office/drawing/2014/main" id="{8695F716-F533-49D9-BC3C-C34D885D2C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F4B171C1-19E6-56F5-9B4B-232ED9EBD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79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EDA27-7776-F9EF-A249-24589478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>
            <a:extLst>
              <a:ext uri="{FF2B5EF4-FFF2-40B4-BE49-F238E27FC236}">
                <a16:creationId xmlns:a16="http://schemas.microsoft.com/office/drawing/2014/main" id="{43F287F0-6F1F-7D70-1E15-2491A2509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7" y="147834"/>
            <a:ext cx="4371584" cy="88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 descr="Human/AI Alignment workshop | DARPA">
            <a:extLst>
              <a:ext uri="{FF2B5EF4-FFF2-40B4-BE49-F238E27FC236}">
                <a16:creationId xmlns:a16="http://schemas.microsoft.com/office/drawing/2014/main" id="{62FDB040-FD4F-1911-2CD0-E6749AB53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4" b="28924"/>
          <a:stretch/>
        </p:blipFill>
        <p:spPr bwMode="auto">
          <a:xfrm>
            <a:off x="7871720" y="201196"/>
            <a:ext cx="3495553" cy="82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 logo with lines and dots&#10;&#10;Description automatically generated">
            <a:extLst>
              <a:ext uri="{FF2B5EF4-FFF2-40B4-BE49-F238E27FC236}">
                <a16:creationId xmlns:a16="http://schemas.microsoft.com/office/drawing/2014/main" id="{0EAE2AAD-4E5E-73B1-87C6-EB4F8BAB2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29" y="220028"/>
            <a:ext cx="925737" cy="8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123C3B3-9928-452F-EE96-479F00D8AF60}"/>
              </a:ext>
            </a:extLst>
          </p:cNvPr>
          <p:cNvSpPr txBox="1">
            <a:spLocks/>
          </p:cNvSpPr>
          <p:nvPr/>
        </p:nvSpPr>
        <p:spPr>
          <a:xfrm>
            <a:off x="2867688" y="5830251"/>
            <a:ext cx="2395099" cy="616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pic>
        <p:nvPicPr>
          <p:cNvPr id="2050" name="Picture 2" descr="320+ Banana Gun Stock Photos, Pictures &amp; Royalty-Free Images - iStock | Toy  gun, Thief, Water gun">
            <a:extLst>
              <a:ext uri="{FF2B5EF4-FFF2-40B4-BE49-F238E27FC236}">
                <a16:creationId xmlns:a16="http://schemas.microsoft.com/office/drawing/2014/main" id="{91F0727B-436A-34BC-64B5-95EE529CB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87" y="1728423"/>
            <a:ext cx="6027303" cy="401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E989D7-2566-4A7D-73D9-FD06BED1C0CF}"/>
              </a:ext>
            </a:extLst>
          </p:cNvPr>
          <p:cNvSpPr txBox="1"/>
          <p:nvPr/>
        </p:nvSpPr>
        <p:spPr>
          <a:xfrm>
            <a:off x="7146851" y="2227965"/>
            <a:ext cx="4945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rkara, btok, ralmakinah, mcanbaz @albany.edu</a:t>
            </a:r>
          </a:p>
        </p:txBody>
      </p:sp>
      <p:pic>
        <p:nvPicPr>
          <p:cNvPr id="16" name="Picture 1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4AC8E00-A4F7-FA27-8FAF-9AC3CD1175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96" y="2717800"/>
            <a:ext cx="1828800" cy="1828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50008D7-7426-5CC9-8F8F-3D50413A062E}"/>
              </a:ext>
            </a:extLst>
          </p:cNvPr>
          <p:cNvSpPr txBox="1"/>
          <p:nvPr/>
        </p:nvSpPr>
        <p:spPr>
          <a:xfrm>
            <a:off x="7146851" y="4609731"/>
            <a:ext cx="4945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BananaGuard Github Repo</a:t>
            </a:r>
          </a:p>
        </p:txBody>
      </p:sp>
    </p:spTree>
    <p:extLst>
      <p:ext uri="{BB962C8B-B14F-4D97-AF65-F5344CB8AC3E}">
        <p14:creationId xmlns:p14="http://schemas.microsoft.com/office/powerpoint/2010/main" val="2713290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1264</TotalTime>
  <Words>1802</Words>
  <Application>Microsoft Macintosh PowerPoint</Application>
  <PresentationFormat>Widescreen</PresentationFormat>
  <Paragraphs>211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BananaGuard: A Comparative Analysis of AI Models for Firearm Detection in Crowded Environments</vt:lpstr>
      <vt:lpstr>Background &amp; Motivation</vt:lpstr>
      <vt:lpstr>Related Work</vt:lpstr>
      <vt:lpstr>State of the art Models </vt:lpstr>
      <vt:lpstr>Dataset and Models</vt:lpstr>
      <vt:lpstr>Training Configuration and Optimization Parameters</vt:lpstr>
      <vt:lpstr>PowerPoint Presentation</vt:lpstr>
      <vt:lpstr>PowerPoint Presentation</vt:lpstr>
      <vt:lpstr>PowerPoint Presentation</vt:lpstr>
      <vt:lpstr>General Takeaway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Tok, Betul H</dc:creator>
  <cp:lastModifiedBy>Canbaz, M Abdullah</cp:lastModifiedBy>
  <cp:revision>204</cp:revision>
  <dcterms:created xsi:type="dcterms:W3CDTF">2025-05-05T05:05:59Z</dcterms:created>
  <dcterms:modified xsi:type="dcterms:W3CDTF">2025-11-25T16:24:55Z</dcterms:modified>
</cp:coreProperties>
</file>